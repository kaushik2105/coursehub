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relational database for managing students, instructors, courses, enrollments and fee payments, built in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numbers: 5 tables, 20 students, 10 courses, 26 questions answered with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connect each concept to where it appears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an instructor teaches many courses; a course has many enrollments; each enrollment has exactly one payment. Students link to enrollments, which makes student-course a many-to-many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tables were created with primary and foreign key constraints and filled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Joins connect three or four tables to answer business questions; GROUP BY with SUM summarises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 function gives a running total. Indexes speed up searches by student and enforce unique emails. Views save frequently used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results come directly from the queries on the earlier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74520"/>
            <a:ext cx="822960" cy="6400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SQL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Management System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CourseHub  |  Built in MySQL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Project on SQL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CourseHub keeps all course-related data in one consistent relational database, so administrators, faculty and the accounts office work from the same source.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20240" cy="1051560"/>
          </a:xfrm>
          <a:prstGeom prst="rect">
            <a:avLst/>
          </a:prstGeom>
          <a:solidFill>
            <a:srgbClr val="EEF2F9"/>
          </a:solidFill>
          <a:ln w="12700">
            <a:solidFill>
              <a:srgbClr val="D5DD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920240" cy="1051560"/>
          </a:xfrm>
          <a:prstGeom prst="rect">
            <a:avLst/>
          </a:prstGeom>
          <a:solidFill>
            <a:srgbClr val="EEF2F9"/>
          </a:solidFill>
          <a:ln w="12700">
            <a:solidFill>
              <a:srgbClr val="D5DD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1920240" cy="1051560"/>
          </a:xfrm>
          <a:prstGeom prst="rect">
            <a:avLst/>
          </a:prstGeom>
          <a:solidFill>
            <a:srgbClr val="EEF2F9"/>
          </a:solidFill>
          <a:ln w="12700">
            <a:solidFill>
              <a:srgbClr val="D5DD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1920240" cy="1051560"/>
          </a:xfrm>
          <a:prstGeom prst="rect">
            <a:avLst/>
          </a:prstGeom>
          <a:solidFill>
            <a:srgbClr val="EEF2F9"/>
          </a:solidFill>
          <a:ln w="12700">
            <a:solidFill>
              <a:srgbClr val="D5D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solved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students, instructors, courses, enrollments and fee payments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design: each fact is stored once and referenced by keys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allocation of instructors, enrollment tracking and fee reports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Used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1691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5389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identify rows; foreign keys link tables (e.g. Student_ID in Enrollments).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51560"/>
            <a:ext cx="64008" cy="1691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45389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(instructor-courses), 1:1 (enrollment-payment), M:M resolved by Enrollments.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51560"/>
            <a:ext cx="64008" cy="1691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45389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into related tables to remove redundancy (up to 3NF).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51760" cy="169164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80360"/>
            <a:ext cx="64008" cy="1691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53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28269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and unique indexes speed up lookups and enforce unique emails.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2880360"/>
            <a:ext cx="2651760" cy="169164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880360"/>
            <a:ext cx="64008" cy="1691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953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28269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queries such as HighValuePayments and RevenueSummary.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2880360"/>
            <a:ext cx="2651760" cy="169164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880360"/>
            <a:ext cx="64008" cy="1691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2953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ACID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28269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ROLLBACK keep data consistent: atomic, consistent, isolated, durable.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788920"/>
            <a:ext cx="173736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9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788920"/>
            <a:ext cx="1737360" cy="29260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136392"/>
            <a:ext cx="1600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Experience_Years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2788920"/>
            <a:ext cx="173736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788920"/>
            <a:ext cx="1737360" cy="29260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136392"/>
            <a:ext cx="1600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Course_Name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2788920"/>
            <a:ext cx="173736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788920"/>
            <a:ext cx="1737360" cy="29260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136392"/>
            <a:ext cx="1600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Enrollment_ID (PK)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(FK)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0" y="2788920"/>
            <a:ext cx="173736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9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2788920"/>
            <a:ext cx="1737360" cy="29260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136392"/>
            <a:ext cx="1600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Payment_ID (PK)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Payment_Method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Payment_Status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17373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9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005840"/>
            <a:ext cx="1737360" cy="29260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1005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1353312"/>
            <a:ext cx="1600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Age, Gender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Contact, Email, City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0" y="3657600"/>
            <a:ext cx="548640" cy="0"/>
          </a:xfrm>
          <a:prstGeom prst="line">
            <a:avLst/>
          </a:prstGeom>
          <a:noFill/>
          <a:ln w="28575">
            <a:solidFill>
              <a:srgbClr val="F4A3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57400" y="3383280"/>
            <a:ext cx="4572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97680" y="3657600"/>
            <a:ext cx="548640" cy="0"/>
          </a:xfrm>
          <a:prstGeom prst="line">
            <a:avLst/>
          </a:prstGeom>
          <a:noFill/>
          <a:ln w="28575">
            <a:solidFill>
              <a:srgbClr val="F4A3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43400" y="3383280"/>
            <a:ext cx="4572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3657600"/>
            <a:ext cx="548640" cy="0"/>
          </a:xfrm>
          <a:prstGeom prst="line">
            <a:avLst/>
          </a:prstGeom>
          <a:noFill/>
          <a:ln w="28575">
            <a:solidFill>
              <a:srgbClr val="F4A3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3383280"/>
            <a:ext cx="4572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2240280"/>
            <a:ext cx="0" cy="548640"/>
          </a:xfrm>
          <a:prstGeom prst="line">
            <a:avLst/>
          </a:prstGeom>
          <a:noFill/>
          <a:ln w="28575">
            <a:solidFill>
              <a:srgbClr val="F4A3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06440" y="2395728"/>
            <a:ext cx="4572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74320" y="1097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Courses are many-to-many, resolved through Enrollments.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and Sample Data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62179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columns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Student_ID (PK), Name, Age, Gender, Contact, Email, City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Instructors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Instructor_ID (PK), Name, Department, Qualification, Experience_Years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Courses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Course_ID (PK), Course_Name, Instructor_ID (FK), Credits, Fee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Enrollments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Enrollment_ID (PK), Student_ID (FK), Course_ID (FK), Date, Status, Marks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Payment_ID (PK), Enrollment_ID (FK), Amount, Payment_Method, Status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Courses table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474720"/>
                <a:gridCol w="1463040"/>
                <a:gridCol w="914400"/>
                <a:gridCol w="1188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Course_ID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Course_Name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Instructor_ID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Credits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 Management Systems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Machine Learning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Cyber Security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Queries: Joins and Aggregation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Student who paid the most in course fees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120640" cy="105156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e.Student_ID, SUM(p.Amount) AS Total_Paid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Enrollments e JOIN Payments 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e.Enrollment_ID = p.Enrollment_ID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e.Student_ID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Total_Paid DESC LIMIT 1;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2834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Total_Paid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26000.00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Q21. Total fee revenue by department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5120640" cy="15544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971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i.Department, SUM(p.Amount) AS Total_Revenue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Instructors 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Courses c ON i.Instructor_ID = c.Instructor_ID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Enrollments e ON c.Course_ID = e.Course_ID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Payments p ON e.Enrollment_ID = p.Enrollment_ID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i.Department;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880360"/>
          <a:ext cx="2834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Department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Total_Revenue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Computer Science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48000.00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 Science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36000.00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Info. Technology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29000.00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Mathematics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Management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4500.00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SQL: Window Function, Index and Views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173736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(cumulative revenue)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5389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3657600" cy="11430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6002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e.Enrollment_Date,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SUM(p.Amount) OVER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(ORDER BY e.Enrollment_Date)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Cumulative_Revenue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Enrollments e JOIN Payments p ...;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173736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51560"/>
            <a:ext cx="64008" cy="173736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45389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508760"/>
            <a:ext cx="3657600" cy="11430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16002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idx_student_id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Enrollments(Student_ID);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UNIQUE INDEX idx_email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Students(Email);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1600200"/>
          </a:xfrm>
          <a:prstGeom prst="rect">
            <a:avLst/>
          </a:prstGeom>
          <a:solidFill>
            <a:srgbClr val="EEF2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71800"/>
            <a:ext cx="64008" cy="1600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449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74136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3840480" cy="10058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HighValuePayments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Payments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Amount &gt; 9000;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3840480" cy="10058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RevenueSummary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Payment_Method,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SUM(Amount) AS Total_Revenue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Payments GROUP BY Payment_Method;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Data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EEF2F9"/>
          </a:solidFill>
          <a:ln w="12700">
            <a:solidFill>
              <a:srgbClr val="D5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" cy="14630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1,22,500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fees billed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EEF2F9"/>
          </a:solidFill>
          <a:ln w="12700">
            <a:solidFill>
              <a:srgbClr val="D5DD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82296" cy="14630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department: Rs. 48,000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EEF2F9"/>
          </a:solidFill>
          <a:ln w="12700">
            <a:solidFill>
              <a:srgbClr val="D5DD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82296" cy="14630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017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payer: Rs. 26,000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023360" cy="1463040"/>
          </a:xfrm>
          <a:prstGeom prst="rect">
            <a:avLst/>
          </a:prstGeom>
          <a:solidFill>
            <a:srgbClr val="EEF2F9"/>
          </a:solidFill>
          <a:ln w="12700">
            <a:solidFill>
              <a:srgbClr val="D5DD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88920"/>
            <a:ext cx="82296" cy="14630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017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method: 5 payments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22960" cy="6400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five-table schema models students, courses and fees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relationships keep the data consistent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aggregates, window functions, indexes and views answer real reporting needs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CourseHub - Student Course Management System</dc:title>
  <dc:subject>PptxGenJS Presentation</dc:subject>
  <dc:creator>PptxGenJS</dc:creator>
  <cp:lastModifiedBy>PptxGenJS</cp:lastModifiedBy>
  <cp:revision>1</cp:revision>
  <dcterms:created xsi:type="dcterms:W3CDTF">2026-10-29T07:53:35Z</dcterms:created>
  <dcterms:modified xsi:type="dcterms:W3CDTF">2026-10-29T07:53:35Z</dcterms:modified>
</cp:coreProperties>
</file>